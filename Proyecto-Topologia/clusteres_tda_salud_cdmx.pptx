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CFC"/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67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737360" y="128016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2194560" y="82296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0058400" y="109728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0789920" y="146304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1338560" y="91440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0332720" y="219456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1064240" y="256032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731520" y="566928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463040" y="603504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011680" y="539496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1005840" y="493776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0607040" y="548640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11155680" y="585216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11430000" y="5120640"/>
            <a:ext cx="109728" cy="109728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Detección de clústeres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económicos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urbanos</a:t>
            </a:r>
            <a:endParaRPr lang="en-US" sz="40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aplicada al sector salud </a:t>
            </a:r>
            <a:r>
              <a:rPr lang="en-US" sz="2200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CDMX:</a:t>
            </a:r>
          </a:p>
          <a:p>
            <a:pPr algn="ctr"/>
            <a:r>
              <a:rPr lang="es-MX" sz="2200" dirty="0">
                <a:solidFill>
                  <a:srgbClr val="02C39A"/>
                </a:solidFill>
              </a:rPr>
              <a:t>Detección de clústeres económicos urbanos en el sector salud</a:t>
            </a:r>
            <a:endParaRPr lang="en-US" sz="2200" dirty="0">
              <a:solidFill>
                <a:srgbClr val="02C39A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41848" y="4023360"/>
            <a:ext cx="9144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para el Futuro de las Ciudades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Presentan: Natalia  ·  Eugen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7D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formador  ·  Reto estudiantil</a:t>
            </a:r>
            <a:endParaRPr lang="en-US" sz="1100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C4D1CDA4-9428-E784-3844-6C8B1E569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Detección de clústeres económicos urbanos en el sector salud: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¿Quiénes somos?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representantes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07303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Cadavid Aguilar</a:t>
            </a:r>
            <a:endParaRPr lang="en-US" sz="2200" dirty="0"/>
          </a:p>
          <a:p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Investigadora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Posdoctoral</a:t>
            </a:r>
            <a:endParaRPr lang="en-US" sz="13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MX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para el Futuro de las Ciudades</a:t>
            </a:r>
          </a:p>
          <a:p>
            <a:pPr marL="0" indent="0">
              <a:buNone/>
            </a:pPr>
            <a:endParaRPr lang="en-US" sz="13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4206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>
              <a:solidFill>
                <a:srgbClr val="CADCFC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 para el Futuro de las Ciudades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MX" sz="1500" dirty="0">
                <a:solidFill>
                  <a:srgbClr val="CADCFC"/>
                </a:solidFill>
              </a:rPr>
              <a:t>Dedicado a investigar, innovar y actuar para transformar las ciudades en entornos sostenibles, humanos y prósperos.</a:t>
            </a:r>
          </a:p>
          <a:p>
            <a:pPr marL="0" indent="0">
              <a:buNone/>
            </a:pPr>
            <a:endParaRPr lang="es-MX" sz="15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s-MX" sz="1500" dirty="0">
                <a:solidFill>
                  <a:srgbClr val="CADCFC"/>
                </a:solidFill>
              </a:rPr>
              <a:t>Nuestro objetivo es cambiar el modelo urbano en México y contribuir a mejorar la calidad de vida en las ciudades. </a:t>
            </a: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12" name="Picture 3" descr="A person wearing glasses and a purple jacket&#10;&#10;AI-generated content may be incorrect.">
            <a:extLst>
              <a:ext uri="{FF2B5EF4-FFF2-40B4-BE49-F238E27FC236}">
                <a16:creationId xmlns:a16="http://schemas.microsoft.com/office/drawing/2014/main" id="{B0BF05B6-FAC0-A9A0-6204-E4FD3FB5D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8905" b="12885"/>
          <a:stretch>
            <a:fillRect/>
          </a:stretch>
        </p:blipFill>
        <p:spPr>
          <a:xfrm>
            <a:off x="4066871" y="3482340"/>
            <a:ext cx="1248042" cy="137194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822959" y="4533900"/>
            <a:ext cx="4887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 Resendiz </a:t>
            </a:r>
            <a:r>
              <a:rPr lang="en-US" sz="22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Bontrud</a:t>
            </a:r>
            <a:endParaRPr lang="en-US" sz="2200" b="1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MX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Investigadora </a:t>
            </a:r>
            <a:r>
              <a:rPr lang="es-MX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s-MX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</a:t>
            </a:r>
            <a:endParaRPr lang="es-MX" sz="13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MX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Arquitectura, Arte y Diseño </a:t>
            </a:r>
            <a:r>
              <a:rPr lang="es-MX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s-MX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Centro para el Futuro de las Ciudades</a:t>
            </a:r>
          </a:p>
          <a:p>
            <a:pPr marL="0" indent="0">
              <a:buNone/>
            </a:pPr>
            <a:r>
              <a:rPr lang="es-MX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membresía del Observatorio Global de Ciudades Saludables y Sostenibles</a:t>
            </a:r>
            <a:endParaRPr lang="en-US" sz="2200" dirty="0"/>
          </a:p>
        </p:txBody>
      </p:sp>
      <p:pic>
        <p:nvPicPr>
          <p:cNvPr id="13" name="Picture 2" descr="Natalia Cadavid Aguilar - Unidad de Planificación Rural Agropecuaria-UPRA |  LinkedIn">
            <a:extLst>
              <a:ext uri="{FF2B5EF4-FFF2-40B4-BE49-F238E27FC236}">
                <a16:creationId xmlns:a16="http://schemas.microsoft.com/office/drawing/2014/main" id="{B9C1554C-1E28-4250-CF17-6E4F54366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67" r="14101"/>
          <a:stretch>
            <a:fillRect/>
          </a:stretch>
        </p:blipFill>
        <p:spPr bwMode="auto">
          <a:xfrm>
            <a:off x="4118315" y="1838982"/>
            <a:ext cx="1149344" cy="13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real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que vives en una colonia de CDMX y necesitas atención médica urgente.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tan lejos está la clínica más cercana?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¿Y si vives a tres colonias de distancia — es igual?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73152" cy="16459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importa para política pública NO 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"¿cuántos servicios médicos hay en la ciudad?"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 "¿dónde faltan?"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lo "obvio" no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66344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3212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1 — Contar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"Cuenten cuántos consultorios hay por alcaldía."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porque: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alcaldía puede tener 500 consultorios amontonados en una avenida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tener colonias enteras sin nada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esconde la inequidad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532120" cy="466344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53212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37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2 — Clustering clásico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"Agrupen con k-means los puntos cercanos."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porque: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dice dónde están los grupos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dice dónde están los huecos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huecos son justo lo que importa en política de salud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idea: círculos que crecen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el mapa de CDMX con un </a:t>
            </a:r>
            <a:r>
              <a:rPr lang="en-US" sz="15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puntico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cada consultorio médico. Ahora dibujamos un círculo alrededor de cada punto y los hacemos crecer: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66160" cy="292608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51560" y="3154680"/>
            <a:ext cx="274320" cy="274320"/>
          </a:xfrm>
          <a:prstGeom prst="ellipse">
            <a:avLst/>
          </a:prstGeom>
          <a:solidFill>
            <a:srgbClr val="028090">
              <a:alpha val="2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152144" y="3255264"/>
            <a:ext cx="73152" cy="73152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691640" y="2971800"/>
            <a:ext cx="274320" cy="274320"/>
          </a:xfrm>
          <a:prstGeom prst="ellipse">
            <a:avLst/>
          </a:prstGeom>
          <a:solidFill>
            <a:srgbClr val="028090">
              <a:alpha val="2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792224" y="3072384"/>
            <a:ext cx="73152" cy="73152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325880" y="3611880"/>
            <a:ext cx="274320" cy="274320"/>
          </a:xfrm>
          <a:prstGeom prst="ellipse">
            <a:avLst/>
          </a:prstGeom>
          <a:solidFill>
            <a:srgbClr val="028090">
              <a:alpha val="2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426464" y="3712464"/>
            <a:ext cx="73152" cy="73152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606040" y="3429000"/>
            <a:ext cx="274320" cy="274320"/>
          </a:xfrm>
          <a:prstGeom prst="ellipse">
            <a:avLst/>
          </a:prstGeom>
          <a:solidFill>
            <a:srgbClr val="028090">
              <a:alpha val="2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706624" y="3529584"/>
            <a:ext cx="73152" cy="73152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46120" y="3794760"/>
            <a:ext cx="274320" cy="274320"/>
          </a:xfrm>
          <a:prstGeom prst="ellipse">
            <a:avLst/>
          </a:prstGeom>
          <a:solidFill>
            <a:srgbClr val="028090">
              <a:alpha val="2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346704" y="3895344"/>
            <a:ext cx="73152" cy="73152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423160" y="4160520"/>
            <a:ext cx="274320" cy="274320"/>
          </a:xfrm>
          <a:prstGeom prst="ellipse">
            <a:avLst/>
          </a:prstGeom>
          <a:solidFill>
            <a:srgbClr val="028090">
              <a:alpha val="2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523744" y="4261104"/>
            <a:ext cx="73152" cy="73152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Radio pequeño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círculos no se tocan. Vemos puntos aislados.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651760"/>
            <a:ext cx="3566160" cy="292608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419088" y="3584448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231613" y="4037053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779008" y="4224528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326403" y="4037053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5138928" y="3584448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5326403" y="3131843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5779008" y="2944368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231613" y="3131843"/>
            <a:ext cx="603504" cy="603504"/>
          </a:xfrm>
          <a:prstGeom prst="ellipse">
            <a:avLst/>
          </a:prstGeom>
          <a:solidFill>
            <a:srgbClr val="028090">
              <a:alpha val="3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6675120" y="3840480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6487645" y="4293085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6035040" y="4480560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5582435" y="4293085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5394960" y="3840480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5582435" y="3387875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6035040" y="3200400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6487645" y="3387875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5879592" y="3685032"/>
            <a:ext cx="402336" cy="402336"/>
          </a:xfrm>
          <a:prstGeom prst="ellipse">
            <a:avLst/>
          </a:prstGeom>
          <a:solidFill>
            <a:srgbClr val="F96167">
              <a:alpha val="70000"/>
            </a:srgbClr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5532120" y="3794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9768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Radio mediano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348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círculos se fusionan, pero queda un hueco en el centro.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46720" y="2651760"/>
            <a:ext cx="3566160" cy="292608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9957816" y="3447288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9791767" y="3848167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9390888" y="4014216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8990009" y="3848167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8823960" y="3447288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8990009" y="3046409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9390888" y="2880360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9791767" y="3046409"/>
            <a:ext cx="877824" cy="877824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10351008" y="3840480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10184959" y="4241359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9784080" y="4407408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9383201" y="4241359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9217152" y="3840480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9383201" y="3439601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9784080" y="3273552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10184959" y="3439601"/>
            <a:ext cx="91440" cy="91440"/>
          </a:xfrm>
          <a:prstGeom prst="ellipse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804672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Radio grande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18388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llena. El hueco desaparece.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hueco del panel 2 es una zona sin cobertura rodeada de servicios. Eso es lo que queremos encontrar.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llama esto en matemáticas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64592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91440" cy="1645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Complejo de Vietoris-Rips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formal de "dibujar círculos que crecen y ver qué se conecta". Convierte una nube de puntos en una estructura geométrica que podemos analizar.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64240" cy="164592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91440" cy="1645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Homología persistente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automáticamente los huecos y mide qué tanto "duran" al crecer el radio. Un hueco que persiste mucho tiempo es un hueco real. Uno que aparece y desaparece rápido es ruido.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TDA · Topological Data Analysis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paraguas: usar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analizar datos. Lo nuevo aquí es mirar la forma, no solo los promedios.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n 108">
            <a:extLst>
              <a:ext uri="{FF2B5EF4-FFF2-40B4-BE49-F238E27FC236}">
                <a16:creationId xmlns:a16="http://schemas.microsoft.com/office/drawing/2014/main" id="{827121A6-E861-E91B-906A-A377E1BE9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216" y="195429"/>
            <a:ext cx="4022157" cy="296804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DENUE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Estadístico Nacional de Unidades Económicas — INEGI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usamos: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geográficas (lat, lon) de cada establecimiento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SCIAN del sector salud (62): consultorios, clínicas, hospitales, laboratorios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geográfico: Ciudad de México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28755" y="2642421"/>
            <a:ext cx="5029200" cy="4162968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928913" y="278238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 — ilustrativo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1555" y="415333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8238890" y="338069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7543337" y="3907465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8114896" y="430516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015801" y="390032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168561" y="327608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306787" y="385506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563685" y="437710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7662151" y="334102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7445346" y="372158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577897" y="321764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359426" y="385549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7545124" y="3364985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725458" y="321163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7476430" y="349945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7512352" y="420269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7987260" y="435781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871569" y="329150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30216" y="355621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7472937" y="408366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8275941" y="394010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8356113" y="350638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7724605" y="353134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7719872" y="352327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8221245" y="387582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7733436" y="344182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8050306" y="403397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7287737" y="376345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7557138" y="427592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7953042" y="392827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8280241" y="416409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308439" y="337045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8246800" y="322167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7805715" y="369503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7347692" y="338018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7383996" y="370034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7516249" y="398771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7413123" y="426998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7904741" y="426949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8127310" y="372621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8345194" y="426896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8154932" y="415594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7480628" y="430543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7695033" y="408604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7219056" y="405489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10874566" y="392268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10516149" y="366926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10591009" y="3745555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11043770" y="4257865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9" name="Shape 57"/>
          <p:cNvSpPr/>
          <p:nvPr/>
        </p:nvSpPr>
        <p:spPr>
          <a:xfrm>
            <a:off x="10938038" y="406155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0" name="Shape 58"/>
          <p:cNvSpPr/>
          <p:nvPr/>
        </p:nvSpPr>
        <p:spPr>
          <a:xfrm>
            <a:off x="10523924" y="375873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1" name="Shape 59"/>
          <p:cNvSpPr/>
          <p:nvPr/>
        </p:nvSpPr>
        <p:spPr>
          <a:xfrm>
            <a:off x="10538826" y="391907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2" name="Shape 60"/>
          <p:cNvSpPr/>
          <p:nvPr/>
        </p:nvSpPr>
        <p:spPr>
          <a:xfrm>
            <a:off x="10959656" y="3573398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3" name="Shape 61"/>
          <p:cNvSpPr/>
          <p:nvPr/>
        </p:nvSpPr>
        <p:spPr>
          <a:xfrm>
            <a:off x="10514624" y="360046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4" name="Shape 62"/>
          <p:cNvSpPr/>
          <p:nvPr/>
        </p:nvSpPr>
        <p:spPr>
          <a:xfrm>
            <a:off x="10740563" y="376028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10908573" y="443273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10500337" y="419186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10764277" y="404141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10218726" y="363394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11045105" y="449476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10712563" y="403777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1" name="Shape 69"/>
          <p:cNvSpPr/>
          <p:nvPr/>
        </p:nvSpPr>
        <p:spPr>
          <a:xfrm>
            <a:off x="10563773" y="382620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2" name="Shape 70"/>
          <p:cNvSpPr/>
          <p:nvPr/>
        </p:nvSpPr>
        <p:spPr>
          <a:xfrm>
            <a:off x="10210356" y="376103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3" name="Shape 71"/>
          <p:cNvSpPr/>
          <p:nvPr/>
        </p:nvSpPr>
        <p:spPr>
          <a:xfrm>
            <a:off x="10736258" y="387397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4" name="Shape 72"/>
          <p:cNvSpPr/>
          <p:nvPr/>
        </p:nvSpPr>
        <p:spPr>
          <a:xfrm>
            <a:off x="10234034" y="410689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5" name="Shape 73"/>
          <p:cNvSpPr/>
          <p:nvPr/>
        </p:nvSpPr>
        <p:spPr>
          <a:xfrm>
            <a:off x="10557136" y="360644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6" name="Shape 74"/>
          <p:cNvSpPr/>
          <p:nvPr/>
        </p:nvSpPr>
        <p:spPr>
          <a:xfrm>
            <a:off x="10566218" y="452291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7" name="Shape 75"/>
          <p:cNvSpPr/>
          <p:nvPr/>
        </p:nvSpPr>
        <p:spPr>
          <a:xfrm>
            <a:off x="10647153" y="425448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8" name="Shape 76"/>
          <p:cNvSpPr/>
          <p:nvPr/>
        </p:nvSpPr>
        <p:spPr>
          <a:xfrm>
            <a:off x="10549998" y="435724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9" name="Shape 77"/>
          <p:cNvSpPr/>
          <p:nvPr/>
        </p:nvSpPr>
        <p:spPr>
          <a:xfrm>
            <a:off x="10547088" y="420578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0" name="Shape 78"/>
          <p:cNvSpPr/>
          <p:nvPr/>
        </p:nvSpPr>
        <p:spPr>
          <a:xfrm>
            <a:off x="7984319" y="6222853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1" name="Shape 79"/>
          <p:cNvSpPr/>
          <p:nvPr/>
        </p:nvSpPr>
        <p:spPr>
          <a:xfrm>
            <a:off x="10677496" y="598051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2" name="Shape 80"/>
          <p:cNvSpPr/>
          <p:nvPr/>
        </p:nvSpPr>
        <p:spPr>
          <a:xfrm>
            <a:off x="8701822" y="646967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3" name="Shape 81"/>
          <p:cNvSpPr/>
          <p:nvPr/>
        </p:nvSpPr>
        <p:spPr>
          <a:xfrm>
            <a:off x="8083200" y="583755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4" name="Shape 82"/>
          <p:cNvSpPr/>
          <p:nvPr/>
        </p:nvSpPr>
        <p:spPr>
          <a:xfrm>
            <a:off x="11078481" y="644504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5" name="Shape 83"/>
          <p:cNvSpPr/>
          <p:nvPr/>
        </p:nvSpPr>
        <p:spPr>
          <a:xfrm>
            <a:off x="7402229" y="667385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6" name="Shape 84"/>
          <p:cNvSpPr/>
          <p:nvPr/>
        </p:nvSpPr>
        <p:spPr>
          <a:xfrm>
            <a:off x="11067095" y="657073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7" name="Shape 85"/>
          <p:cNvSpPr/>
          <p:nvPr/>
        </p:nvSpPr>
        <p:spPr>
          <a:xfrm>
            <a:off x="7234180" y="573679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8" name="Shape 86"/>
          <p:cNvSpPr/>
          <p:nvPr/>
        </p:nvSpPr>
        <p:spPr>
          <a:xfrm>
            <a:off x="9703625" y="596303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9" name="Shape 87"/>
          <p:cNvSpPr/>
          <p:nvPr/>
        </p:nvSpPr>
        <p:spPr>
          <a:xfrm>
            <a:off x="9840734" y="555969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0" name="Shape 88"/>
          <p:cNvSpPr/>
          <p:nvPr/>
        </p:nvSpPr>
        <p:spPr>
          <a:xfrm>
            <a:off x="7605806" y="595040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1" name="Shape 89"/>
          <p:cNvSpPr/>
          <p:nvPr/>
        </p:nvSpPr>
        <p:spPr>
          <a:xfrm>
            <a:off x="10056777" y="597267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2" name="Shape 90"/>
          <p:cNvSpPr/>
          <p:nvPr/>
        </p:nvSpPr>
        <p:spPr>
          <a:xfrm>
            <a:off x="10145972" y="564849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3" name="Shape 91"/>
          <p:cNvSpPr/>
          <p:nvPr/>
        </p:nvSpPr>
        <p:spPr>
          <a:xfrm>
            <a:off x="10009291" y="6509776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4" name="Shape 92"/>
          <p:cNvSpPr/>
          <p:nvPr/>
        </p:nvSpPr>
        <p:spPr>
          <a:xfrm>
            <a:off x="9343355" y="6639110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5" name="Shape 93"/>
          <p:cNvSpPr/>
          <p:nvPr/>
        </p:nvSpPr>
        <p:spPr>
          <a:xfrm>
            <a:off x="9714566" y="585998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6" name="Shape 94"/>
          <p:cNvSpPr/>
          <p:nvPr/>
        </p:nvSpPr>
        <p:spPr>
          <a:xfrm>
            <a:off x="10131581" y="668923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7" name="Shape 95"/>
          <p:cNvSpPr/>
          <p:nvPr/>
        </p:nvSpPr>
        <p:spPr>
          <a:xfrm>
            <a:off x="10203330" y="6695172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8" name="Shape 96"/>
          <p:cNvSpPr/>
          <p:nvPr/>
        </p:nvSpPr>
        <p:spPr>
          <a:xfrm>
            <a:off x="10831519" y="3611627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9" name="Shape 97"/>
          <p:cNvSpPr/>
          <p:nvPr/>
        </p:nvSpPr>
        <p:spPr>
          <a:xfrm>
            <a:off x="11502552" y="3488955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0" name="Shape 98"/>
          <p:cNvSpPr/>
          <p:nvPr/>
        </p:nvSpPr>
        <p:spPr>
          <a:xfrm>
            <a:off x="11331723" y="3560731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1" name="Shape 99"/>
          <p:cNvSpPr/>
          <p:nvPr/>
        </p:nvSpPr>
        <p:spPr>
          <a:xfrm>
            <a:off x="10677626" y="357374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2" name="Shape 100"/>
          <p:cNvSpPr/>
          <p:nvPr/>
        </p:nvSpPr>
        <p:spPr>
          <a:xfrm>
            <a:off x="11385256" y="354044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3" name="Shape 101"/>
          <p:cNvSpPr/>
          <p:nvPr/>
        </p:nvSpPr>
        <p:spPr>
          <a:xfrm>
            <a:off x="10844405" y="3506389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4" name="Shape 102"/>
          <p:cNvSpPr/>
          <p:nvPr/>
        </p:nvSpPr>
        <p:spPr>
          <a:xfrm>
            <a:off x="11014634" y="3351195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5" name="Shape 103"/>
          <p:cNvSpPr/>
          <p:nvPr/>
        </p:nvSpPr>
        <p:spPr>
          <a:xfrm>
            <a:off x="11104628" y="3240194"/>
            <a:ext cx="73152" cy="73152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6" name="Shape 104"/>
          <p:cNvSpPr/>
          <p:nvPr/>
        </p:nvSpPr>
        <p:spPr>
          <a:xfrm>
            <a:off x="8903175" y="4237250"/>
            <a:ext cx="1097280" cy="1097280"/>
          </a:xfrm>
          <a:prstGeom prst="ellipse">
            <a:avLst/>
          </a:prstGeom>
          <a:solidFill>
            <a:srgbClr val="F96167">
              <a:alpha val="25000"/>
            </a:srgbClr>
          </a:solidFill>
          <a:ln w="19050">
            <a:solidFill>
              <a:srgbClr val="F96167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7" name="Text 105"/>
          <p:cNvSpPr/>
          <p:nvPr/>
        </p:nvSpPr>
        <p:spPr>
          <a:xfrm>
            <a:off x="8708691" y="4469307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cobertura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lo resolvemos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76272" cy="310896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316736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31673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 establecimientos médicos del DENUE (filtro SCIAN 62)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3784" y="1828800"/>
            <a:ext cx="2176272" cy="310896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61188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80944" y="2971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26664" y="35204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 de Vietoris-Rips sobre las coordenadas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38928" y="1828800"/>
            <a:ext cx="2176272" cy="310896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907024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90702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76088" y="2971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21808" y="35204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Homología persistente: identificar huecos y medir su duración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34072" y="1828800"/>
            <a:ext cx="2176272" cy="310896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202168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20216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71232" y="2971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16952" y="35204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persistencia + mapas sobre CDMX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29216" y="1828800"/>
            <a:ext cx="2176272" cy="310896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10497312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04973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866376" y="2971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12096" y="35204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con k-means/ DBSCAN para mostrar qué gana TDA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86868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3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giotto-tda  ·  ripser  ·  gudhi  ·  geopandas  ·  folium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entregamos?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que permita a planeadores urbanos y autoridades de salud identificar con precisión geográfica dónde invertir en nueva infraestructura.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611880" cy="329184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clústeres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alta concentración de servicios médicos en CDMX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2834640"/>
            <a:ext cx="3611880" cy="329184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315968" y="2834640"/>
            <a:ext cx="361188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90288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 huecos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0288" y="4754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rodeadas de servicios pero desatendidas — los huecos persistentes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83296" y="2834640"/>
            <a:ext cx="3611880" cy="329184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083296" y="2834640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357616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57616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57616" y="4754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detecta TDA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k-means/DBSCAN no logra ver — con métricas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conteo dice cuántos hay.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TDA dice dónde faltan.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641848" y="4480560"/>
            <a:ext cx="9144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diferencia es la que separa un diagnóstico de un plan de acción para la CDMX.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588" y="731520"/>
            <a:ext cx="3932903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9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15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152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para el Futuro de las Ciudades  ·  Natalia y Eugen</a:t>
            </a:r>
            <a:endParaRPr lang="en-US" sz="12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862675F-F422-AEAA-3C91-0774176E73D0}"/>
              </a:ext>
            </a:extLst>
          </p:cNvPr>
          <p:cNvSpPr/>
          <p:nvPr/>
        </p:nvSpPr>
        <p:spPr>
          <a:xfrm rot="10800000">
            <a:off x="7688627" y="1502229"/>
            <a:ext cx="3932903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</a:t>
            </a:r>
            <a:endParaRPr lang="en-US" sz="30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742</Words>
  <Application>Microsoft Office PowerPoint</Application>
  <PresentationFormat>Panorámica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Clústeres económicos urbanos - TDA en salud CDMX</dc:title>
  <dc:subject>PptxGenJS Presentation</dc:subject>
  <dc:creator>Natalia y Eugen - Centro para el Futuro de las Ciudades</dc:creator>
  <cp:lastModifiedBy>Natalia Cadavid Aguilar</cp:lastModifiedBy>
  <cp:revision>5</cp:revision>
  <dcterms:created xsi:type="dcterms:W3CDTF">2026-04-16T17:17:42Z</dcterms:created>
  <dcterms:modified xsi:type="dcterms:W3CDTF">2026-04-16T23:26:16Z</dcterms:modified>
</cp:coreProperties>
</file>